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FAF88"/>
          </a:solidFill>
          <a:ln w="12700">
            <a:solidFill>
              <a:srgbClr val="6FA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8229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Swasthya AI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02920" y="1737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8DD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Insurance Sales Agent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2651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FA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· Multilingual · Grounded · Agentic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3200400"/>
            <a:ext cx="8229600" cy="0"/>
          </a:xfrm>
          <a:prstGeom prst="line">
            <a:avLst/>
          </a:prstGeom>
          <a:noFill/>
          <a:ln w="12700">
            <a:solidFill>
              <a:srgbClr val="3D7A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383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FAF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02920" y="4023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products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37560" y="3383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FAF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337560" y="4023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tiers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72200" y="3383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FAF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172200" y="4023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· Hi · Hinglish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6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health insurance — not life?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C8DD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4300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3F6F0"/>
          </a:solidFill>
          <a:ln w="6350">
            <a:solidFill>
              <a:srgbClr val="C8DD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2651760" cy="502920"/>
          </a:xfrm>
          <a:prstGeom prst="roundRect">
            <a:avLst>
              <a:gd name="adj" fmla="val 21818"/>
            </a:avLst>
          </a:prstGeom>
          <a:solidFill>
            <a:srgbClr val="C04E3A"/>
          </a:solidFill>
          <a:ln w="12700">
            <a:solidFill>
              <a:srgbClr val="C04E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612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 &lt; 40%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insurance penetration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2377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is deeply underinsured on health. Life insurance penetration sits at 3.2% of GDP; health lags far behind despite medical costs inflating 10–12% annually.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3F6F0"/>
          </a:solidFill>
          <a:ln w="6350">
            <a:solidFill>
              <a:srgbClr val="C8DD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143000"/>
            <a:ext cx="2651760" cy="502920"/>
          </a:xfrm>
          <a:prstGeom prst="roundRect">
            <a:avLst>
              <a:gd name="adj" fmla="val 21818"/>
            </a:avLst>
          </a:prstGeom>
          <a:solidFill>
            <a:srgbClr val="3D7A56"/>
          </a:solidFill>
          <a:ln w="12700">
            <a:solidFill>
              <a:srgbClr val="3D7A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1612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₹5–35L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83280" y="1691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critical illness bill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2148840"/>
            <a:ext cx="2377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hospital admission can wipe out a family's savings. Health cover fills the gap life insurance was never designed to address — it pays while you're alive.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14300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3F6F0"/>
          </a:solidFill>
          <a:ln w="6350">
            <a:solidFill>
              <a:srgbClr val="C8DD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43000"/>
            <a:ext cx="2651760" cy="502920"/>
          </a:xfrm>
          <a:prstGeom prst="roundRect">
            <a:avLst>
              <a:gd name="adj" fmla="val 21818"/>
            </a:avLst>
          </a:prstGeom>
          <a:solidFill>
            <a:srgbClr val="3A7CB8"/>
          </a:solidFill>
          <a:ln w="12700">
            <a:solidFill>
              <a:srgbClr val="3A7C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1612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20 products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63640" y="1691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Personalisation opportunity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2148840"/>
            <a:ext cx="2377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insurance has far more product surface area than life: age gates, PED types, maternity, chronic disease, gig workers, seniors — each warrants a distinct product.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6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Scope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C8DD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6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voice sales agent — answers the call, qualifies the lead, recommends a policy, and closes.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9 structured profile fields in a minimal number of turns.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from a 20-product × 67-plan suite using algorithmic filtering.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 every number in a typed product registry — never invents a figure.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price objections with real treatment cost data.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WhatsApp confirmation on confirmed purchase via Twilio.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66344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6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scope decisions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508760"/>
            <a:ext cx="4114800" cy="530352"/>
          </a:xfrm>
          <a:prstGeom prst="roundRect">
            <a:avLst>
              <a:gd name="adj" fmla="val 13793"/>
            </a:avLst>
          </a:prstGeom>
          <a:solidFill>
            <a:srgbClr val="F3F6F0"/>
          </a:solidFill>
          <a:ln w="6350">
            <a:solidFill>
              <a:srgbClr val="C8DD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554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6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only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00600" y="17739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outbound dialling for MVP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2103120"/>
            <a:ext cx="4114800" cy="530352"/>
          </a:xfrm>
          <a:prstGeom prst="roundRect">
            <a:avLst>
              <a:gd name="adj" fmla="val 13793"/>
            </a:avLst>
          </a:prstGeom>
          <a:solidFill>
            <a:srgbClr val="F3F6F0"/>
          </a:solidFill>
          <a:ln w="6350">
            <a:solidFill>
              <a:srgbClr val="C8DD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21488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6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languages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00600" y="236829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· Hindi · Hinglish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2697480"/>
            <a:ext cx="4114800" cy="530352"/>
          </a:xfrm>
          <a:prstGeom prst="roundRect">
            <a:avLst>
              <a:gd name="adj" fmla="val 13793"/>
            </a:avLst>
          </a:prstGeom>
          <a:solidFill>
            <a:srgbClr val="F3F6F0"/>
          </a:solidFill>
          <a:ln w="6350">
            <a:solidFill>
              <a:srgbClr val="C8DD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7432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6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Non-streaming STT→LLM→TTS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00600" y="29626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Full-turn architecture — simpler to debug, sufficient latency for demo context. Production would stream.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3291840"/>
            <a:ext cx="4114800" cy="530352"/>
          </a:xfrm>
          <a:prstGeom prst="roundRect">
            <a:avLst>
              <a:gd name="adj" fmla="val 13793"/>
            </a:avLst>
          </a:prstGeom>
          <a:solidFill>
            <a:srgbClr val="F3F6F0"/>
          </a:solidFill>
          <a:ln w="6350">
            <a:solidFill>
              <a:srgbClr val="C8DD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33375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6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Agents SDK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00600" y="355701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hand-rolled FSM as primary orchestrator for speed to demo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3886200"/>
            <a:ext cx="4114800" cy="530352"/>
          </a:xfrm>
          <a:prstGeom prst="roundRect">
            <a:avLst>
              <a:gd name="adj" fmla="val 13793"/>
            </a:avLst>
          </a:prstGeom>
          <a:solidFill>
            <a:srgbClr val="F3F6F0"/>
          </a:solidFill>
          <a:ln w="6350">
            <a:solidFill>
              <a:srgbClr val="C8DD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9319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6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STT + TTS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00600" y="41513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Saaras v3 + Bulbul v3 — Indic language advantage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4480560"/>
            <a:ext cx="4114800" cy="530352"/>
          </a:xfrm>
          <a:prstGeom prst="roundRect">
            <a:avLst>
              <a:gd name="adj" fmla="val 13793"/>
            </a:avLst>
          </a:prstGeom>
          <a:solidFill>
            <a:srgbClr val="F3F6F0"/>
          </a:solidFill>
          <a:ln w="6350">
            <a:solidFill>
              <a:srgbClr val="C8DD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45262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6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kept as fallback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00600" y="47457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LLM unavailable, FSM takes over on same data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6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evolution: FSM → Agentic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C8DD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3657600" cy="3566160"/>
          </a:xfrm>
          <a:prstGeom prst="roundRect">
            <a:avLst>
              <a:gd name="adj" fmla="val 3077"/>
            </a:avLst>
          </a:prstGeom>
          <a:solidFill>
            <a:srgbClr val="FDF6F4"/>
          </a:solidFill>
          <a:ln w="10160">
            <a:solidFill>
              <a:srgbClr val="E8C8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344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4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Finite State Machine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200400" cy="365760"/>
          </a:xfrm>
          <a:prstGeom prst="roundRect">
            <a:avLst>
              <a:gd name="adj" fmla="val 17500"/>
            </a:avLst>
          </a:prstGeom>
          <a:solidFill>
            <a:srgbClr val="FBE8E4"/>
          </a:solidFill>
          <a:ln w="6350">
            <a:solidFill>
              <a:srgbClr val="D4A0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642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 Start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148840" y="1965960"/>
            <a:ext cx="0" cy="100584"/>
          </a:xfrm>
          <a:prstGeom prst="line">
            <a:avLst/>
          </a:prstGeom>
          <a:noFill/>
          <a:ln w="12700">
            <a:solidFill>
              <a:srgbClr val="C04E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066544"/>
            <a:ext cx="3200400" cy="365760"/>
          </a:xfrm>
          <a:prstGeom prst="roundRect">
            <a:avLst>
              <a:gd name="adj" fmla="val 17500"/>
            </a:avLst>
          </a:prstGeom>
          <a:solidFill>
            <a:srgbClr val="FBE8E4"/>
          </a:solidFill>
          <a:ln w="6350">
            <a:solidFill>
              <a:srgbClr val="D4A09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3055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Discovery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148840" y="2432304"/>
            <a:ext cx="0" cy="100584"/>
          </a:xfrm>
          <a:prstGeom prst="line">
            <a:avLst/>
          </a:prstGeom>
          <a:noFill/>
          <a:ln w="12700">
            <a:solidFill>
              <a:srgbClr val="C04E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532888"/>
            <a:ext cx="3200400" cy="365760"/>
          </a:xfrm>
          <a:prstGeom prst="roundRect">
            <a:avLst>
              <a:gd name="adj" fmla="val 17500"/>
            </a:avLst>
          </a:prstGeom>
          <a:solidFill>
            <a:srgbClr val="FBE8E4"/>
          </a:solidFill>
          <a:ln w="6350">
            <a:solidFill>
              <a:srgbClr val="D4A09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59689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Recommend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148840" y="2898648"/>
            <a:ext cx="0" cy="100584"/>
          </a:xfrm>
          <a:prstGeom prst="line">
            <a:avLst/>
          </a:prstGeom>
          <a:noFill/>
          <a:ln w="12700">
            <a:solidFill>
              <a:srgbClr val="C04E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999232"/>
            <a:ext cx="3200400" cy="365760"/>
          </a:xfrm>
          <a:prstGeom prst="roundRect">
            <a:avLst>
              <a:gd name="adj" fmla="val 17500"/>
            </a:avLst>
          </a:prstGeom>
          <a:solidFill>
            <a:srgbClr val="F5E0DA"/>
          </a:solidFill>
          <a:ln w="6350">
            <a:solidFill>
              <a:srgbClr val="D4A09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0632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Policy Q&amp;A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148840" y="3364992"/>
            <a:ext cx="0" cy="100584"/>
          </a:xfrm>
          <a:prstGeom prst="line">
            <a:avLst/>
          </a:prstGeom>
          <a:noFill/>
          <a:ln w="12700">
            <a:solidFill>
              <a:srgbClr val="C04E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465576"/>
            <a:ext cx="3200400" cy="365760"/>
          </a:xfrm>
          <a:prstGeom prst="roundRect">
            <a:avLst>
              <a:gd name="adj" fmla="val 17500"/>
            </a:avLst>
          </a:prstGeom>
          <a:solidFill>
            <a:srgbClr val="F5E0DA"/>
          </a:solidFill>
          <a:ln w="6350">
            <a:solidFill>
              <a:srgbClr val="D4A09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52958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4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Close · S5 Handoff · S6 Block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023360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control over transitions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Every path is auditable + testable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Managing all edge transitions gets complex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Slower to iterate for MVP demo timeline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60520" y="2834640"/>
            <a:ext cx="822960" cy="0"/>
          </a:xfrm>
          <a:prstGeom prst="line">
            <a:avLst/>
          </a:prstGeom>
          <a:noFill/>
          <a:ln w="31750">
            <a:solidFill>
              <a:srgbClr val="3D7A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2715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7A56"/>
                </a:solidFill>
              </a:rPr>
              <a:t>▶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0" y="30175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120640" y="1097280"/>
            <a:ext cx="3657600" cy="3566160"/>
          </a:xfrm>
          <a:prstGeom prst="roundRect">
            <a:avLst>
              <a:gd name="adj" fmla="val 3077"/>
            </a:avLst>
          </a:prstGeom>
          <a:solidFill>
            <a:srgbClr val="F2F7F4"/>
          </a:solidFill>
          <a:ln w="10160">
            <a:solidFill>
              <a:srgbClr val="C8DD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257800" y="12344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6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OpenAI Agents SDK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57800" y="16276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M_16 Sales Agent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257800" y="19202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Tool-calling loop drives the full conversation.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decides when to discover, recommend, or close.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57800" y="24871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6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grounded tools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257800" y="2788920"/>
            <a:ext cx="1417320" cy="274320"/>
          </a:xfrm>
          <a:prstGeom prst="roundRect">
            <a:avLst>
              <a:gd name="adj" fmla="val 20000"/>
            </a:avLst>
          </a:prstGeom>
          <a:solidFill>
            <a:srgbClr val="F3F6F0"/>
          </a:solidFill>
          <a:ln w="6350">
            <a:solidFill>
              <a:srgbClr val="C8DD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30952" y="28254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save_profile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12280" y="2788920"/>
            <a:ext cx="1417320" cy="274320"/>
          </a:xfrm>
          <a:prstGeom prst="roundRect">
            <a:avLst>
              <a:gd name="adj" fmla="val 20000"/>
            </a:avLst>
          </a:prstGeom>
          <a:solidFill>
            <a:srgbClr val="F3F6F0"/>
          </a:solidFill>
          <a:ln w="6350">
            <a:solidFill>
              <a:srgbClr val="C8DD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85432" y="28254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recommend_products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257800" y="3118104"/>
            <a:ext cx="1417320" cy="274320"/>
          </a:xfrm>
          <a:prstGeom prst="roundRect">
            <a:avLst>
              <a:gd name="adj" fmla="val 20000"/>
            </a:avLst>
          </a:prstGeom>
          <a:solidFill>
            <a:srgbClr val="F3F6F0"/>
          </a:solidFill>
          <a:ln w="6350">
            <a:solidFill>
              <a:srgbClr val="C8DD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30952" y="31546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explain_product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12280" y="3118104"/>
            <a:ext cx="1417320" cy="274320"/>
          </a:xfrm>
          <a:prstGeom prst="roundRect">
            <a:avLst>
              <a:gd name="adj" fmla="val 20000"/>
            </a:avLst>
          </a:prstGeom>
          <a:solidFill>
            <a:srgbClr val="F3F6F0"/>
          </a:solidFill>
          <a:ln w="6350">
            <a:solidFill>
              <a:srgbClr val="C8DD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85432" y="31546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show_plan_options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257800" y="3447288"/>
            <a:ext cx="1417320" cy="274320"/>
          </a:xfrm>
          <a:prstGeom prst="roundRect">
            <a:avLst>
              <a:gd name="adj" fmla="val 20000"/>
            </a:avLst>
          </a:prstGeom>
          <a:solidFill>
            <a:srgbClr val="F3F6F0"/>
          </a:solidFill>
          <a:ln w="6350">
            <a:solidFill>
              <a:srgbClr val="C8DD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30952" y="34838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estimate_value_vs_cost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812280" y="3447288"/>
            <a:ext cx="1417320" cy="274320"/>
          </a:xfrm>
          <a:prstGeom prst="roundRect">
            <a:avLst>
              <a:gd name="adj" fmla="val 20000"/>
            </a:avLst>
          </a:prstGeom>
          <a:solidFill>
            <a:srgbClr val="F3F6F0"/>
          </a:solidFill>
          <a:ln w="6350">
            <a:solidFill>
              <a:srgbClr val="C8DD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85432" y="34838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answer_general_question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257800" y="3776472"/>
            <a:ext cx="2971800" cy="274320"/>
          </a:xfrm>
          <a:prstGeom prst="roundRect">
            <a:avLst>
              <a:gd name="adj" fmla="val 20000"/>
            </a:avLst>
          </a:prstGeom>
          <a:solidFill>
            <a:srgbClr val="F3F6F0"/>
          </a:solidFill>
          <a:ln w="6350">
            <a:solidFill>
              <a:srgbClr val="C8DD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30952" y="381304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finalize_purchase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257800" y="427939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Less boilerplate — faster to demo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FSM kept as deterministic fallback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Real OpenAI Traces for debugging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6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2700">
            <a:solidFill>
              <a:srgbClr val="C8DD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960120"/>
            <a:ext cx="1188720" cy="868680"/>
          </a:xfrm>
          <a:prstGeom prst="roundRect">
            <a:avLst>
              <a:gd name="adj" fmla="val 10526"/>
            </a:avLst>
          </a:prstGeom>
          <a:solidFill>
            <a:srgbClr val="E8EEE9"/>
          </a:solidFill>
          <a:ln w="6350">
            <a:solidFill>
              <a:srgbClr val="C8DD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51560"/>
            <a:ext cx="10058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411834"/>
            <a:ext cx="100584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 browser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71600" y="1394460"/>
            <a:ext cx="228600" cy="0"/>
          </a:xfrm>
          <a:prstGeom prst="line">
            <a:avLst/>
          </a:prstGeom>
          <a:noFill/>
          <a:ln w="19050">
            <a:solidFill>
              <a:srgbClr val="3D7A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960120"/>
            <a:ext cx="1371600" cy="868680"/>
          </a:xfrm>
          <a:prstGeom prst="roundRect">
            <a:avLst>
              <a:gd name="adj" fmla="val 10526"/>
            </a:avLst>
          </a:prstGeom>
          <a:solidFill>
            <a:srgbClr val="D4EDE1"/>
          </a:solidFill>
          <a:ln w="6350">
            <a:solidFill>
              <a:srgbClr val="C8DD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91640" y="1051560"/>
            <a:ext cx="118872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STT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91640" y="1411834"/>
            <a:ext cx="118872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Saaras v3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non-streaming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71800" y="1394460"/>
            <a:ext cx="228600" cy="0"/>
          </a:xfrm>
          <a:prstGeom prst="line">
            <a:avLst/>
          </a:prstGeom>
          <a:noFill/>
          <a:ln w="19050">
            <a:solidFill>
              <a:srgbClr val="3D7A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96012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BFD9CC"/>
          </a:solidFill>
          <a:ln w="6350">
            <a:solidFill>
              <a:srgbClr val="C8DD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1051560"/>
            <a:ext cx="17373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M_16 Sales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1411834"/>
            <a:ext cx="173736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tool-calling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gpt-4.1-mini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120640" y="1394460"/>
            <a:ext cx="228600" cy="0"/>
          </a:xfrm>
          <a:prstGeom prst="line">
            <a:avLst/>
          </a:prstGeom>
          <a:noFill/>
          <a:ln w="19050">
            <a:solidFill>
              <a:srgbClr val="3D7A5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49240" y="960120"/>
            <a:ext cx="1280160" cy="868680"/>
          </a:xfrm>
          <a:prstGeom prst="roundRect">
            <a:avLst>
              <a:gd name="adj" fmla="val 10526"/>
            </a:avLst>
          </a:prstGeom>
          <a:solidFill>
            <a:srgbClr val="D4EDE1"/>
          </a:solidFill>
          <a:ln w="6350">
            <a:solidFill>
              <a:srgbClr val="C8DD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40680" y="1051560"/>
            <a:ext cx="1097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M_10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40680" y="1411834"/>
            <a:ext cx="10972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API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· Hinglish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29400" y="1394460"/>
            <a:ext cx="228600" cy="0"/>
          </a:xfrm>
          <a:prstGeom prst="line">
            <a:avLst/>
          </a:prstGeom>
          <a:noFill/>
          <a:ln w="19050">
            <a:solidFill>
              <a:srgbClr val="3D7A5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0" y="960120"/>
            <a:ext cx="1234440" cy="868680"/>
          </a:xfrm>
          <a:prstGeom prst="roundRect">
            <a:avLst>
              <a:gd name="adj" fmla="val 10526"/>
            </a:avLst>
          </a:prstGeom>
          <a:solidFill>
            <a:srgbClr val="E8EEE9"/>
          </a:solidFill>
          <a:ln w="6350">
            <a:solidFill>
              <a:srgbClr val="C8DD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49440" y="1051560"/>
            <a:ext cx="10515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M_11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49440" y="1411834"/>
            <a:ext cx="105156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→ rupees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Acronyms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092440" y="1394460"/>
            <a:ext cx="228600" cy="0"/>
          </a:xfrm>
          <a:prstGeom prst="line">
            <a:avLst/>
          </a:prstGeom>
          <a:noFill/>
          <a:ln w="19050">
            <a:solidFill>
              <a:srgbClr val="3D7A5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21040" y="960120"/>
            <a:ext cx="457200" cy="868680"/>
          </a:xfrm>
          <a:prstGeom prst="roundRect">
            <a:avLst>
              <a:gd name="adj" fmla="val 20000"/>
            </a:avLst>
          </a:prstGeom>
          <a:solidFill>
            <a:srgbClr val="D4EDE1"/>
          </a:solidFill>
          <a:ln w="6350">
            <a:solidFill>
              <a:srgbClr val="C8DD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412480" y="1051560"/>
            <a:ext cx="27432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0" y="1411834"/>
            <a:ext cx="27432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Bulbul v3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60520" y="1828800"/>
            <a:ext cx="0" cy="320040"/>
          </a:xfrm>
          <a:prstGeom prst="line">
            <a:avLst/>
          </a:prstGeom>
          <a:noFill/>
          <a:ln w="12700">
            <a:solidFill>
              <a:srgbClr val="3D7A5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2057400"/>
            <a:ext cx="1170432" cy="411480"/>
          </a:xfrm>
          <a:prstGeom prst="roundRect">
            <a:avLst>
              <a:gd name="adj" fmla="val 15556"/>
            </a:avLst>
          </a:prstGeom>
          <a:solidFill>
            <a:srgbClr val="F3F6F0"/>
          </a:solidFill>
          <a:ln w="6350">
            <a:solidFill>
              <a:srgbClr val="C8DD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7744" y="213055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save_profile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444752" y="2057400"/>
            <a:ext cx="1170432" cy="411480"/>
          </a:xfrm>
          <a:prstGeom prst="roundRect">
            <a:avLst>
              <a:gd name="adj" fmla="val 15556"/>
            </a:avLst>
          </a:prstGeom>
          <a:solidFill>
            <a:srgbClr val="F3F6F0"/>
          </a:solidFill>
          <a:ln w="6350">
            <a:solidFill>
              <a:srgbClr val="C8DD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99616" y="213055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recommend_products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706624" y="2057400"/>
            <a:ext cx="1170432" cy="411480"/>
          </a:xfrm>
          <a:prstGeom prst="roundRect">
            <a:avLst>
              <a:gd name="adj" fmla="val 15556"/>
            </a:avLst>
          </a:prstGeom>
          <a:solidFill>
            <a:srgbClr val="F3F6F0"/>
          </a:solidFill>
          <a:ln w="6350">
            <a:solidFill>
              <a:srgbClr val="C8DD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61488" y="213055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explain_product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968496" y="2057400"/>
            <a:ext cx="1170432" cy="411480"/>
          </a:xfrm>
          <a:prstGeom prst="roundRect">
            <a:avLst>
              <a:gd name="adj" fmla="val 15556"/>
            </a:avLst>
          </a:prstGeom>
          <a:solidFill>
            <a:srgbClr val="F3F6F0"/>
          </a:solidFill>
          <a:ln w="6350">
            <a:solidFill>
              <a:srgbClr val="C8DD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23360" y="213055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show_plan_options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230368" y="2057400"/>
            <a:ext cx="1170432" cy="411480"/>
          </a:xfrm>
          <a:prstGeom prst="roundRect">
            <a:avLst>
              <a:gd name="adj" fmla="val 15556"/>
            </a:avLst>
          </a:prstGeom>
          <a:solidFill>
            <a:srgbClr val="F3F6F0"/>
          </a:solidFill>
          <a:ln w="6350">
            <a:solidFill>
              <a:srgbClr val="C8DD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85232" y="213055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estimate_value_vs_cost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492240" y="2057400"/>
            <a:ext cx="1170432" cy="411480"/>
          </a:xfrm>
          <a:prstGeom prst="roundRect">
            <a:avLst>
              <a:gd name="adj" fmla="val 15556"/>
            </a:avLst>
          </a:prstGeom>
          <a:solidFill>
            <a:srgbClr val="F3F6F0"/>
          </a:solidFill>
          <a:ln w="6350">
            <a:solidFill>
              <a:srgbClr val="C8DD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47104" y="213055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answer_general_q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754112" y="2057400"/>
            <a:ext cx="1170432" cy="411480"/>
          </a:xfrm>
          <a:prstGeom prst="roundRect">
            <a:avLst>
              <a:gd name="adj" fmla="val 15556"/>
            </a:avLst>
          </a:prstGeom>
          <a:solidFill>
            <a:srgbClr val="D8EDDF"/>
          </a:solidFill>
          <a:ln w="6350">
            <a:solidFill>
              <a:srgbClr val="C8DD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08976" y="213055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finalize_purchase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82880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6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2880" y="306324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F3F6F0"/>
          </a:solidFill>
          <a:ln w="6350">
            <a:solidFill>
              <a:srgbClr val="C8DD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74320" y="3108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registry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(Python dict)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74320" y="344728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2,368 lines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attributes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965960" y="306324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F3F6F0"/>
          </a:solidFill>
          <a:ln w="6350">
            <a:solidFill>
              <a:srgbClr val="C8DD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057400" y="3108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(Vector store)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057400" y="344728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docs +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IRDAI regs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749040" y="306324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F3F6F0"/>
          </a:solidFill>
          <a:ln w="6350">
            <a:solidFill>
              <a:srgbClr val="C8DD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3840480" y="3108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costs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(JSON)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3840480" y="344728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cost data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handling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532120" y="306324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F3F6F0"/>
          </a:solidFill>
          <a:ln w="6350">
            <a:solidFill>
              <a:srgbClr val="C8DD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623560" y="3108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log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(JSON per session)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623560" y="344728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Per-turn record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logger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315200" y="306324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F3F6F0"/>
          </a:solidFill>
          <a:ln w="6350">
            <a:solidFill>
              <a:srgbClr val="C8DD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406640" y="3108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(Twilio)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406640" y="344728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20040" y="4754880"/>
            <a:ext cx="164592" cy="164592"/>
          </a:xfrm>
          <a:prstGeom prst="ellipse">
            <a:avLst/>
          </a:prstGeom>
          <a:solidFill>
            <a:srgbClr val="3D7A56"/>
          </a:solidFill>
          <a:ln w="12700">
            <a:solidFill>
              <a:srgbClr val="3D7A5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8640" y="47365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(LLM)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514600" y="4754880"/>
            <a:ext cx="164592" cy="164592"/>
          </a:xfrm>
          <a:prstGeom prst="ellipse">
            <a:avLst/>
          </a:prstGeom>
          <a:solidFill>
            <a:srgbClr val="D4832A"/>
          </a:solidFill>
          <a:ln w="12700">
            <a:solidFill>
              <a:srgbClr val="D4832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0" y="47365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/ Python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709160" y="4754880"/>
            <a:ext cx="164592" cy="164592"/>
          </a:xfrm>
          <a:prstGeom prst="ellipse">
            <a:avLst/>
          </a:prstGeom>
          <a:solidFill>
            <a:srgbClr val="6B7E75"/>
          </a:solidFill>
          <a:ln w="12700">
            <a:solidFill>
              <a:srgbClr val="6B7E7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937760" y="47365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Passthrough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6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retrieval design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2700">
            <a:solidFill>
              <a:srgbClr val="C8DD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51560"/>
            <a:ext cx="4023360" cy="1828800"/>
          </a:xfrm>
          <a:prstGeom prst="roundRect">
            <a:avLst>
              <a:gd name="adj" fmla="val 6000"/>
            </a:avLst>
          </a:prstGeom>
          <a:solidFill>
            <a:srgbClr val="F3F6F0"/>
          </a:solidFill>
          <a:ln w="6350">
            <a:solidFill>
              <a:srgbClr val="C8DD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61288"/>
            <a:ext cx="1463040" cy="274320"/>
          </a:xfrm>
          <a:prstGeom prst="roundRect">
            <a:avLst>
              <a:gd name="adj" fmla="val 40000"/>
            </a:avLst>
          </a:prstGeom>
          <a:solidFill>
            <a:srgbClr val="D4832A"/>
          </a:solidFill>
          <a:ln w="12700">
            <a:solidFill>
              <a:srgbClr val="D483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704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lookup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feature registry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013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A6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policy_feature_registry.py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Python dict of dicts. 20 products × 75 typed attributes. Consulted by recommend_products and show_plan_options. Never injected into LLM context — served via tool call only.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023360" cy="1828800"/>
          </a:xfrm>
          <a:prstGeom prst="roundRect">
            <a:avLst>
              <a:gd name="adj" fmla="val 6000"/>
            </a:avLst>
          </a:prstGeom>
          <a:solidFill>
            <a:srgbClr val="F3F6F0"/>
          </a:solidFill>
          <a:ln w="6350">
            <a:solidFill>
              <a:srgbClr val="C8DD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161288"/>
            <a:ext cx="1463040" cy="274320"/>
          </a:xfrm>
          <a:prstGeom prst="roundRect">
            <a:avLst>
              <a:gd name="adj" fmla="val 40000"/>
            </a:avLst>
          </a:prstGeom>
          <a:solidFill>
            <a:srgbClr val="3A7CB8"/>
          </a:solidFill>
          <a:ln w="12700">
            <a:solidFill>
              <a:srgbClr val="3A7C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1704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RAG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0" y="1508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(ChromaDB)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8013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A6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indexes: policy docs + IRDAI regs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20574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policy .txt files + 5 IRDAI regulatory documents chunked by section. Top-6 retrieval via text-embedding-3-small. Used by explain_product and answer_general_question.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017520"/>
            <a:ext cx="4023360" cy="1828800"/>
          </a:xfrm>
          <a:prstGeom prst="roundRect">
            <a:avLst>
              <a:gd name="adj" fmla="val 6000"/>
            </a:avLst>
          </a:prstGeom>
          <a:solidFill>
            <a:srgbClr val="F3F6F0"/>
          </a:solidFill>
          <a:ln w="6350">
            <a:solidFill>
              <a:srgbClr val="C8DD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27248"/>
            <a:ext cx="1463040" cy="274320"/>
          </a:xfrm>
          <a:prstGeom prst="roundRect">
            <a:avLst>
              <a:gd name="adj" fmla="val 40000"/>
            </a:avLst>
          </a:prstGeom>
          <a:solidFill>
            <a:srgbClr val="D4832A"/>
          </a:solidFill>
          <a:ln w="12700">
            <a:solidFill>
              <a:srgbClr val="D483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363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lookup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474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cost data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7673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A6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treatment_costs.json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0233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hospitalisation cost ranges by procedure and city tier. Used by estimate_value_vs_cost to handle price objections with evidence rather than persuasion.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3017520"/>
            <a:ext cx="4023360" cy="1828800"/>
          </a:xfrm>
          <a:prstGeom prst="roundRect">
            <a:avLst>
              <a:gd name="adj" fmla="val 6000"/>
            </a:avLst>
          </a:prstGeom>
          <a:solidFill>
            <a:srgbClr val="F3F6F0"/>
          </a:solidFill>
          <a:ln w="6350">
            <a:solidFill>
              <a:srgbClr val="C8DD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3127248"/>
            <a:ext cx="1463040" cy="274320"/>
          </a:xfrm>
          <a:prstGeom prst="roundRect">
            <a:avLst>
              <a:gd name="adj" fmla="val 40000"/>
            </a:avLst>
          </a:prstGeom>
          <a:solidFill>
            <a:srgbClr val="6B7E75"/>
          </a:solidFill>
          <a:ln w="12700">
            <a:solidFill>
              <a:srgbClr val="6B7E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1363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46320" y="3474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log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37673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A6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logs/conversation_&lt;session&gt;.json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40233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turn: user message, agent reply, intent, tool sequence, schema snapshot, LLM call trace. Enables session replay, analytics, and guardrail review.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6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deterministic, what's LLM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2700">
            <a:solidFill>
              <a:srgbClr val="C8DD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3977640" cy="384048"/>
          </a:xfrm>
          <a:prstGeom prst="roundRect">
            <a:avLst>
              <a:gd name="adj" fmla="val 19048"/>
            </a:avLst>
          </a:prstGeom>
          <a:solidFill>
            <a:srgbClr val="D4832A"/>
          </a:solidFill>
          <a:ln w="12700">
            <a:solidFill>
              <a:srgbClr val="D483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42416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(Python code)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77640" cy="384048"/>
          </a:xfrm>
          <a:prstGeom prst="roundRect">
            <a:avLst>
              <a:gd name="adj" fmla="val 19048"/>
            </a:avLst>
          </a:prstGeom>
          <a:solidFill>
            <a:srgbClr val="3A7CB8"/>
          </a:solidFill>
          <a:ln w="12700">
            <a:solidFill>
              <a:srgbClr val="3A7C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042416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LLM-assisted (OpenAI gpt-4.1-mini)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3977640" cy="548640"/>
          </a:xfrm>
          <a:prstGeom prst="roundRect">
            <a:avLst>
              <a:gd name="adj" fmla="val 13333"/>
            </a:avLst>
          </a:prstGeom>
          <a:solidFill>
            <a:srgbClr val="FFF7EC"/>
          </a:solidFill>
          <a:ln w="6350">
            <a:solidFill>
              <a:srgbClr val="E8C8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54480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product filters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76479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buyer_type, age, gender, primary_need — eliminate impossible products. Code, not inference.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112264"/>
            <a:ext cx="3977640" cy="548640"/>
          </a:xfrm>
          <a:prstGeom prst="roundRect">
            <a:avLst>
              <a:gd name="adj" fmla="val 13333"/>
            </a:avLst>
          </a:prstGeom>
          <a:solidFill>
            <a:srgbClr val="FFF7EC"/>
          </a:solidFill>
          <a:ln w="6350">
            <a:solidFill>
              <a:srgbClr val="E8C8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5798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scoring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36829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 type, OPD need, budget, family size weighted and ranked. Returns top candidates + score.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715768"/>
            <a:ext cx="3977640" cy="548640"/>
          </a:xfrm>
          <a:prstGeom prst="roundRect">
            <a:avLst>
              <a:gd name="adj" fmla="val 13333"/>
            </a:avLst>
          </a:prstGeom>
          <a:solidFill>
            <a:srgbClr val="FFF7EC"/>
          </a:solidFill>
          <a:ln w="6350">
            <a:solidFill>
              <a:srgbClr val="E8C8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61488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Sufficiency gate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97180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buyer_type + age + primary_need must all be non-null before retrieval runs.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319272"/>
            <a:ext cx="3977640" cy="548640"/>
          </a:xfrm>
          <a:prstGeom prst="roundRect">
            <a:avLst>
              <a:gd name="adj" fmla="val 13333"/>
            </a:avLst>
          </a:prstGeom>
          <a:solidFill>
            <a:srgbClr val="FFF7EC"/>
          </a:solidFill>
          <a:ln w="6350">
            <a:solidFill>
              <a:srgbClr val="E8C8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3649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intent detection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57530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/ WANT_HUMAN / FRUSTRATED caught by keyword matching — never delegated to LLM.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922776"/>
            <a:ext cx="3977640" cy="548640"/>
          </a:xfrm>
          <a:prstGeom prst="roundRect">
            <a:avLst>
              <a:gd name="adj" fmla="val 13333"/>
            </a:avLst>
          </a:prstGeom>
          <a:solidFill>
            <a:srgbClr val="FFF7EC"/>
          </a:solidFill>
          <a:ln w="6350">
            <a:solidFill>
              <a:srgbClr val="E8C8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968496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+ schema update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17880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save_profile tool validates field values against enum sets before writing to schema.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4526280"/>
            <a:ext cx="3977640" cy="548640"/>
          </a:xfrm>
          <a:prstGeom prst="roundRect">
            <a:avLst>
              <a:gd name="adj" fmla="val 13333"/>
            </a:avLst>
          </a:prstGeom>
          <a:solidFill>
            <a:srgbClr val="FFF7EC"/>
          </a:solidFill>
          <a:ln w="6350">
            <a:solidFill>
              <a:srgbClr val="E8C8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572000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guardrail (M_15)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78231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in reply re-checked against the tool output that was given to the model.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1508760"/>
            <a:ext cx="3977640" cy="548640"/>
          </a:xfrm>
          <a:prstGeom prst="roundRect">
            <a:avLst>
              <a:gd name="adj" fmla="val 13333"/>
            </a:avLst>
          </a:prstGeom>
          <a:solidFill>
            <a:srgbClr val="EDF4FC"/>
          </a:solidFill>
          <a:ln w="6350">
            <a:solidFill>
              <a:srgbClr val="A8C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554480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 decisions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176479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decides which tool to call each turn — discover, recommend, explain, or close.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2112264"/>
            <a:ext cx="3977640" cy="548640"/>
          </a:xfrm>
          <a:prstGeom prst="roundRect">
            <a:avLst>
              <a:gd name="adj" fmla="val 13333"/>
            </a:avLst>
          </a:prstGeom>
          <a:solidFill>
            <a:srgbClr val="EDF4FC"/>
          </a:solidFill>
          <a:ln w="6350">
            <a:solidFill>
              <a:srgbClr val="A8C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15798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generation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92040" y="236829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Narrates tool results in natural spoken language. Constrained by system prompt + tool output.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2715768"/>
            <a:ext cx="3977640" cy="548640"/>
          </a:xfrm>
          <a:prstGeom prst="roundRect">
            <a:avLst>
              <a:gd name="adj" fmla="val 13333"/>
            </a:avLst>
          </a:prstGeom>
          <a:solidFill>
            <a:srgbClr val="EDF4FC"/>
          </a:solidFill>
          <a:ln w="6350">
            <a:solidFill>
              <a:srgbClr val="A8C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761488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classification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92040" y="297180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advisory layer on top of deterministic keyword check. Used for routing emphasis.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3319272"/>
            <a:ext cx="3977640" cy="548640"/>
          </a:xfrm>
          <a:prstGeom prst="roundRect">
            <a:avLst>
              <a:gd name="adj" fmla="val 13333"/>
            </a:avLst>
          </a:prstGeom>
          <a:solidFill>
            <a:srgbClr val="EDF4FC"/>
          </a:solidFill>
          <a:ln w="6350">
            <a:solidFill>
              <a:srgbClr val="A8C8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3649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phrasing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92040" y="357530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exist; LLM adapts wording to channel (voice vs WhatsApp) and conversation history.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3922776"/>
            <a:ext cx="3977640" cy="548640"/>
          </a:xfrm>
          <a:prstGeom prst="roundRect">
            <a:avLst>
              <a:gd name="adj" fmla="val 13333"/>
            </a:avLst>
          </a:prstGeom>
          <a:solidFill>
            <a:srgbClr val="EDF4FC"/>
          </a:solidFill>
          <a:ln w="6350">
            <a:solidFill>
              <a:srgbClr val="A8C8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3968496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synthesis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92040" y="417880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top-6 chunks, synthesises a grounded answer. M_15 checks numbers after.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54880" y="4526280"/>
            <a:ext cx="3977640" cy="548640"/>
          </a:xfrm>
          <a:prstGeom prst="roundRect">
            <a:avLst>
              <a:gd name="adj" fmla="val 13333"/>
            </a:avLst>
          </a:prstGeom>
          <a:solidFill>
            <a:srgbClr val="EDF4FC"/>
          </a:solidFill>
          <a:ln w="6350">
            <a:solidFill>
              <a:srgbClr val="A8C8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4572000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handling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92040" y="478231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treatment-cost data into empathetic, evidence-based responses.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6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Discovery, NER &amp; scoring logic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2700">
            <a:solidFill>
              <a:srgbClr val="C8DD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6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priority queue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26464"/>
            <a:ext cx="310896" cy="310896"/>
          </a:xfrm>
          <a:prstGeom prst="ellipse">
            <a:avLst/>
          </a:prstGeom>
          <a:solidFill>
            <a:srgbClr val="C04E3A"/>
          </a:solidFill>
          <a:ln w="12700">
            <a:solidFill>
              <a:srgbClr val="C04E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26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" y="140817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buyer_type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49808" y="15910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filter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310896" cy="310896"/>
          </a:xfrm>
          <a:prstGeom prst="ellipse">
            <a:avLst/>
          </a:prstGeom>
          <a:solidFill>
            <a:srgbClr val="C04E3A"/>
          </a:solidFill>
          <a:ln w="12700">
            <a:solidFill>
              <a:srgbClr val="C04E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18105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9808" y="19933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filter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2231136"/>
            <a:ext cx="310896" cy="310896"/>
          </a:xfrm>
          <a:prstGeom prst="ellipse">
            <a:avLst/>
          </a:prstGeom>
          <a:solidFill>
            <a:srgbClr val="C04E3A"/>
          </a:solidFill>
          <a:ln w="12700">
            <a:solidFill>
              <a:srgbClr val="C04E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231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22128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9808" y="239572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filter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633472"/>
            <a:ext cx="310896" cy="310896"/>
          </a:xfrm>
          <a:prstGeom prst="ellipse">
            <a:avLst/>
          </a:prstGeom>
          <a:solidFill>
            <a:srgbClr val="C04E3A"/>
          </a:solidFill>
          <a:ln w="12700">
            <a:solidFill>
              <a:srgbClr val="C04E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633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26151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primary_need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49808" y="279806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filter → often resolves alone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3035808"/>
            <a:ext cx="310896" cy="310896"/>
          </a:xfrm>
          <a:prstGeom prst="ellipse">
            <a:avLst/>
          </a:prstGeom>
          <a:solidFill>
            <a:srgbClr val="D4832A"/>
          </a:solidFill>
          <a:ln w="12700">
            <a:solidFill>
              <a:srgbClr val="D483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" y="30175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has_ped / ped_type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49808" y="320040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diabetes_cardiac → SP015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438144"/>
            <a:ext cx="310896" cy="310896"/>
          </a:xfrm>
          <a:prstGeom prst="ellipse">
            <a:avLst/>
          </a:prstGeom>
          <a:solidFill>
            <a:srgbClr val="D4832A"/>
          </a:solidFill>
          <a:ln w="12700">
            <a:solidFill>
              <a:srgbClr val="D483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438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" y="341985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needs_opd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49808" y="360273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9 products if True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3840480"/>
            <a:ext cx="310896" cy="310896"/>
          </a:xfrm>
          <a:prstGeom prst="ellipse">
            <a:avLst/>
          </a:prstGeom>
          <a:solidFill>
            <a:srgbClr val="3D7A56"/>
          </a:solidFill>
          <a:ln w="12700">
            <a:solidFill>
              <a:srgbClr val="3D7A5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840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9808" y="38221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budget_band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49808" y="40050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Guardrail, not eliminator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5760" y="4242816"/>
            <a:ext cx="310896" cy="310896"/>
          </a:xfrm>
          <a:prstGeom prst="ellipse">
            <a:avLst/>
          </a:prstGeom>
          <a:solidFill>
            <a:srgbClr val="3D7A56"/>
          </a:solidFill>
          <a:ln w="12700">
            <a:solidFill>
              <a:srgbClr val="3D7A5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242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9808" y="42245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family_cover + size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49808" y="440740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floater_joint → SP020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4645152"/>
            <a:ext cx="310896" cy="310896"/>
          </a:xfrm>
          <a:prstGeom prst="ellipse">
            <a:avLst/>
          </a:prstGeom>
          <a:solidFill>
            <a:srgbClr val="3A7CB8"/>
          </a:solidFill>
          <a:ln w="12700">
            <a:solidFill>
              <a:srgbClr val="3A7C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645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49808" y="462686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si_preference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49808" y="480974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tier only — ask after product resolved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65760" y="4892040"/>
            <a:ext cx="3200400" cy="201168"/>
          </a:xfrm>
          <a:prstGeom prst="roundRect">
            <a:avLst>
              <a:gd name="adj" fmla="val 22727"/>
            </a:avLst>
          </a:prstGeom>
          <a:solidFill>
            <a:srgbClr val="E8EEE9"/>
          </a:solidFill>
          <a:ln w="6350">
            <a:solidFill>
              <a:srgbClr val="C8DD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90118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for retrieval: fields 1 + 2 + 4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206240" y="10058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6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scoring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206240" y="1389888"/>
            <a:ext cx="4526280" cy="502920"/>
          </a:xfrm>
          <a:prstGeom prst="roundRect">
            <a:avLst>
              <a:gd name="adj" fmla="val 14545"/>
            </a:avLst>
          </a:prstGeom>
          <a:solidFill>
            <a:srgbClr val="F3F6F0"/>
          </a:solidFill>
          <a:ln w="6350">
            <a:solidFill>
              <a:srgbClr val="C8DD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343400" y="1453896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products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206240" y="1956816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Hard filters (buyer_type · age · gender · primary_need)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206240" y="2322576"/>
            <a:ext cx="4526280" cy="502920"/>
          </a:xfrm>
          <a:prstGeom prst="roundRect">
            <a:avLst>
              <a:gd name="adj" fmla="val 14545"/>
            </a:avLst>
          </a:prstGeom>
          <a:solidFill>
            <a:srgbClr val="D8EDDF"/>
          </a:solidFill>
          <a:ln w="6350">
            <a:solidFill>
              <a:srgbClr val="C8DD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343400" y="2386584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Surviving products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(typically 5–14)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206240" y="2889504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Soft scoring: PED match +0.35 · OPD +0.15 · budget +0.10 · family +0.08…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206240" y="3255264"/>
            <a:ext cx="4526280" cy="502920"/>
          </a:xfrm>
          <a:prstGeom prst="roundRect">
            <a:avLst>
              <a:gd name="adj" fmla="val 14545"/>
            </a:avLst>
          </a:prstGeom>
          <a:solidFill>
            <a:srgbClr val="BFD9CC"/>
          </a:solidFill>
          <a:ln w="6350">
            <a:solidFill>
              <a:srgbClr val="C8DD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343400" y="331927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candidates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scores 0.0–1.0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206240" y="3822192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If &gt;3 above 0.10 threshold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206240" y="4187952"/>
            <a:ext cx="4526280" cy="502920"/>
          </a:xfrm>
          <a:prstGeom prst="roundRect">
            <a:avLst>
              <a:gd name="adj" fmla="val 14545"/>
            </a:avLst>
          </a:prstGeom>
          <a:solidFill>
            <a:srgbClr val="FFF7EC"/>
          </a:solidFill>
          <a:ln w="6350">
            <a:solidFill>
              <a:srgbClr val="C8DD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4343400" y="425196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question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(discriminating field)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206240" y="475488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Top product resolved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206240" y="5120640"/>
            <a:ext cx="4526280" cy="502920"/>
          </a:xfrm>
          <a:prstGeom prst="roundRect">
            <a:avLst>
              <a:gd name="adj" fmla="val 14545"/>
            </a:avLst>
          </a:prstGeom>
          <a:solidFill>
            <a:srgbClr val="D4EDE1"/>
          </a:solidFill>
          <a:ln w="6350">
            <a:solidFill>
              <a:srgbClr val="C8DD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4343400" y="5184648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selector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(si_preference + budget_band)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6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Guardrails, closure &amp; WhatsApp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2700">
            <a:solidFill>
              <a:srgbClr val="C8DD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0"/>
            <a:ext cx="2743200" cy="2103120"/>
          </a:xfrm>
          <a:prstGeom prst="roundRect">
            <a:avLst>
              <a:gd name="adj" fmla="val 5217"/>
            </a:avLst>
          </a:prstGeom>
          <a:solidFill>
            <a:srgbClr val="F3F6F0"/>
          </a:solidFill>
          <a:ln w="6350">
            <a:solidFill>
              <a:srgbClr val="C8DD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1188720"/>
            <a:ext cx="1371600" cy="274320"/>
          </a:xfrm>
          <a:prstGeom prst="roundRect">
            <a:avLst>
              <a:gd name="adj" fmla="val 33333"/>
            </a:avLst>
          </a:prstGeom>
          <a:solidFill>
            <a:srgbClr val="D4832A"/>
          </a:solidFill>
          <a:ln w="12700">
            <a:solidFill>
              <a:srgbClr val="D483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97864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M_15 Numeric Guardrail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01952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premium, waiting period, and benefit figure in the reply is re-checked against the tool output the model was given. Flags ungrounded numbers. Does not block the response — flags for review.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743200" cy="2103120"/>
          </a:xfrm>
          <a:prstGeom prst="roundRect">
            <a:avLst>
              <a:gd name="adj" fmla="val 5217"/>
            </a:avLst>
          </a:prstGeom>
          <a:solidFill>
            <a:srgbClr val="F3F6F0"/>
          </a:solidFill>
          <a:ln w="6350">
            <a:solidFill>
              <a:srgbClr val="C8DD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55848" y="1188720"/>
            <a:ext cx="1371600" cy="274320"/>
          </a:xfrm>
          <a:prstGeom prst="roundRect">
            <a:avLst>
              <a:gd name="adj" fmla="val 33333"/>
            </a:avLst>
          </a:prstGeom>
          <a:solidFill>
            <a:srgbClr val="3D7A56"/>
          </a:solidFill>
          <a:ln w="12700">
            <a:solidFill>
              <a:srgbClr val="3D7A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197864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83280" y="15361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M_11 Response Normaliser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1901952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→ 'rupees', 300000 → '3,00,000', IRDAI → 'I R D A I'. Strips markdown. Caps at 2,500 chars on a sentence boundary. Ensures TTS receives clean, speakable text.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72200" y="1097280"/>
            <a:ext cx="2743200" cy="2103120"/>
          </a:xfrm>
          <a:prstGeom prst="roundRect">
            <a:avLst>
              <a:gd name="adj" fmla="val 5217"/>
            </a:avLst>
          </a:prstGeom>
          <a:solidFill>
            <a:srgbClr val="F3F6F0"/>
          </a:solidFill>
          <a:ln w="6350">
            <a:solidFill>
              <a:srgbClr val="C8DD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81928" y="1188720"/>
            <a:ext cx="1371600" cy="274320"/>
          </a:xfrm>
          <a:prstGeom prst="roundRect">
            <a:avLst>
              <a:gd name="adj" fmla="val 33333"/>
            </a:avLst>
          </a:prstGeom>
          <a:solidFill>
            <a:srgbClr val="C04E3A"/>
          </a:solidFill>
          <a:ln w="12700">
            <a:solidFill>
              <a:srgbClr val="C04E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197864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block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09360" y="15361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exits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1901952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(prompt injection) → S6 Blocked. WANT_HUMAN / FRUSTRATED → S5 Handoff. Both caught by deterministic keyword matching before the LLM sees the turn.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33375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6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closure flow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374904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F3F6F0"/>
          </a:solidFill>
          <a:ln w="6350">
            <a:solidFill>
              <a:srgbClr val="C8DD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3813048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says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'yes'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874520" y="4160520"/>
            <a:ext cx="182880" cy="0"/>
          </a:xfrm>
          <a:prstGeom prst="line">
            <a:avLst/>
          </a:prstGeom>
          <a:noFill/>
          <a:ln w="19050">
            <a:solidFill>
              <a:srgbClr val="3D7A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84248" y="40690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7A56"/>
                </a:solidFill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057400" y="374904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F3F6F0"/>
          </a:solidFill>
          <a:ln w="6350">
            <a:solidFill>
              <a:srgbClr val="C8DD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148840" y="3813048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finalize_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tool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11880" y="4160520"/>
            <a:ext cx="182880" cy="0"/>
          </a:xfrm>
          <a:prstGeom prst="line">
            <a:avLst/>
          </a:prstGeom>
          <a:noFill/>
          <a:ln w="19050">
            <a:solidFill>
              <a:srgbClr val="3D7A5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21608" y="40690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7A56"/>
                </a:solidFill>
              </a:rPr>
              <a:t>▶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794760" y="374904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F3F6F0"/>
          </a:solidFill>
          <a:ln w="6350">
            <a:solidFill>
              <a:srgbClr val="C8DD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886200" y="3813048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sale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session log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349240" y="4160520"/>
            <a:ext cx="182880" cy="0"/>
          </a:xfrm>
          <a:prstGeom prst="line">
            <a:avLst/>
          </a:prstGeom>
          <a:noFill/>
          <a:ln w="19050">
            <a:solidFill>
              <a:srgbClr val="3D7A5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58968" y="40690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7A56"/>
                </a:solidFill>
              </a:rPr>
              <a:t>▶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532120" y="374904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F3F6F0"/>
          </a:solidFill>
          <a:ln w="6350">
            <a:solidFill>
              <a:srgbClr val="C8DD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623560" y="3813048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M_14 WhatsApp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(Twilio)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086600" y="4160520"/>
            <a:ext cx="182880" cy="0"/>
          </a:xfrm>
          <a:prstGeom prst="line">
            <a:avLst/>
          </a:prstGeom>
          <a:noFill/>
          <a:ln w="19050">
            <a:solidFill>
              <a:srgbClr val="3D7A5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96328" y="40690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7A56"/>
                </a:solidFill>
              </a:rPr>
              <a:t>▶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269480" y="374904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D8EDDF"/>
          </a:solidFill>
          <a:ln w="6350">
            <a:solidFill>
              <a:srgbClr val="C8DD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360920" y="3813048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gets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2700">
            <a:solidFill>
              <a:srgbClr val="3D7A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51560"/>
            <a:ext cx="2697480" cy="960120"/>
          </a:xfrm>
          <a:prstGeom prst="roundRect">
            <a:avLst>
              <a:gd name="adj" fmla="val 9524"/>
            </a:avLst>
          </a:prstGeom>
          <a:solidFill>
            <a:srgbClr val="1E3520"/>
          </a:solidFill>
          <a:ln w="6350">
            <a:solidFill>
              <a:srgbClr val="3D7A5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FA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14356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gpt-4.1-mini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Agents SDK 0.17.5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46120" y="1051560"/>
            <a:ext cx="2697480" cy="960120"/>
          </a:xfrm>
          <a:prstGeom prst="roundRect">
            <a:avLst>
              <a:gd name="adj" fmla="val 9524"/>
            </a:avLst>
          </a:prstGeom>
          <a:solidFill>
            <a:srgbClr val="1E3520"/>
          </a:solidFill>
          <a:ln w="6350">
            <a:solidFill>
              <a:srgbClr val="3D7A5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1430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FA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STT / TTS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383280" y="14356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Saaras v3 (STT)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Bulbul v3 (TTS)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72200" y="1051560"/>
            <a:ext cx="2697480" cy="960120"/>
          </a:xfrm>
          <a:prstGeom prst="roundRect">
            <a:avLst>
              <a:gd name="adj" fmla="val 9524"/>
            </a:avLst>
          </a:prstGeom>
          <a:solidFill>
            <a:srgbClr val="1E3520"/>
          </a:solidFill>
          <a:ln w="6350">
            <a:solidFill>
              <a:srgbClr val="3D7A5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1430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FA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framework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09360" y="14356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Pipecat 1.3.0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Silero VAD + FastAPI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148840"/>
            <a:ext cx="2697480" cy="960120"/>
          </a:xfrm>
          <a:prstGeom prst="roundRect">
            <a:avLst>
              <a:gd name="adj" fmla="val 9524"/>
            </a:avLst>
          </a:prstGeom>
          <a:solidFill>
            <a:srgbClr val="1E3520"/>
          </a:solidFill>
          <a:ln w="6350">
            <a:solidFill>
              <a:srgbClr val="3D7A5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2402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FA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/ Vectors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25328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 + ChromaDB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text-embedding-3-small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2148840"/>
            <a:ext cx="2697480" cy="960120"/>
          </a:xfrm>
          <a:prstGeom prst="roundRect">
            <a:avLst>
              <a:gd name="adj" fmla="val 9524"/>
            </a:avLst>
          </a:prstGeom>
          <a:solidFill>
            <a:srgbClr val="1E3520"/>
          </a:solidFill>
          <a:ln w="6350">
            <a:solidFill>
              <a:srgbClr val="3D7A5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83280" y="22402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FA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83280" y="25328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WhatsApp sandbox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2148840"/>
            <a:ext cx="2697480" cy="960120"/>
          </a:xfrm>
          <a:prstGeom prst="roundRect">
            <a:avLst>
              <a:gd name="adj" fmla="val 9524"/>
            </a:avLst>
          </a:prstGeom>
          <a:solidFill>
            <a:srgbClr val="1E3520"/>
          </a:solidFill>
          <a:ln w="6350">
            <a:solidFill>
              <a:srgbClr val="3D7A5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09360" y="22402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FA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09360" y="25328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Translate API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291840"/>
            <a:ext cx="8229600" cy="0"/>
          </a:xfrm>
          <a:prstGeom prst="line">
            <a:avLst/>
          </a:prstGeom>
          <a:noFill/>
          <a:ln w="6350">
            <a:solidFill>
              <a:srgbClr val="3D7A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401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749040"/>
            <a:ext cx="83210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 — product registry as ground truth eliminates hallucination at the source.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cost less than validation LLMs — M_15 + M_11 catch most errors cheaply.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fallback — FSM stays live so the agent never goes dark if the LLM is slow.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from day one — Sarvam STT/TTS doubles addressable market with minimal extra code.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latency is UX — every 100ms saved between STT and TTS is perceptible to the customer.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Swasthya AI Insurance Agent</dc:title>
  <dc:subject>PptxGenJS Presentation</dc:subject>
  <dc:creator>PptxGenJS</dc:creator>
  <cp:lastModifiedBy>PptxGenJS</cp:lastModifiedBy>
  <cp:revision>1</cp:revision>
  <dcterms:created xsi:type="dcterms:W3CDTF">2026-06-15T14:25:52Z</dcterms:created>
  <dcterms:modified xsi:type="dcterms:W3CDTF">2026-06-15T14:25:52Z</dcterms:modified>
</cp:coreProperties>
</file>